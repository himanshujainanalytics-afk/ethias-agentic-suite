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">
    <p:bg>
      <p:bgPr>
        <a:solidFill>
          <a:srgbClr val="003B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EAM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003B7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BOARD STRATEGY PAPER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if your entire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organisation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2468880" y="3794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and a file?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914400" y="512064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212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bank.md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5577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DNA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331720" y="5257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178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51760" y="512064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5212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5577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VISION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069080" y="5257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178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89120" y="512064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5212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5577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FULL-STACK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806440" y="5257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178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26480" y="512064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5212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5577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&amp; MCP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543800" y="5257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178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863840" y="512064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5212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Arch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863840" y="5577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AI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9281160" y="5257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178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601200" y="512064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0" y="5212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0" y="5577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Office of the Chief AI Officer  |  Technology Transformation Strategy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BRUTAL TRUTH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Technology Organisation Was Designed</a:t>
            </a:r>
            <a:endParaRPr lang="en-US" sz="28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a World That No Longer Exists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employ 2,000 technologists. You spend $813M a year. And a single application still takes 44 weeks to reach production.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80076" y="246888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D11242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180076" y="2468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  — 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65676" y="2971800"/>
            <a:ext cx="3657600" cy="411480"/>
          </a:xfrm>
          <a:prstGeom prst="roundRect">
            <a:avLst>
              <a:gd name="adj" fmla="val 13333"/>
            </a:avLst>
          </a:prstGeom>
          <a:solidFill>
            <a:srgbClr val="D11242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265676" y="2971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VPs  —  10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51276" y="3474720"/>
            <a:ext cx="5486400" cy="411480"/>
          </a:xfrm>
          <a:prstGeom prst="roundRect">
            <a:avLst>
              <a:gd name="adj" fmla="val 13333"/>
            </a:avLst>
          </a:prstGeom>
          <a:solidFill>
            <a:srgbClr val="D11242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351276" y="3474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Managers  —  62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79676" y="397764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D11242">
              <a:alpha val="7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979676" y="3977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Engineers &amp; BAs  —  1,040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65276" y="4480560"/>
            <a:ext cx="10058400" cy="411480"/>
          </a:xfrm>
          <a:prstGeom prst="roundRect">
            <a:avLst>
              <a:gd name="adj" fmla="val 13333"/>
            </a:avLst>
          </a:prstGeom>
          <a:solidFill>
            <a:srgbClr val="D11242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65276" y="4480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Compliance, PMs, Contractors  —  555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5120640"/>
            <a:ext cx="6702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2,008 PEOPLE  •  $813M / YEAR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" y="557784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124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5577840"/>
            <a:ext cx="2377440" cy="45720"/>
          </a:xfrm>
          <a:prstGeom prst="rect">
            <a:avLst/>
          </a:prstGeom>
          <a:solidFill>
            <a:srgbClr val="D11242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715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14400" y="6172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WAIT TIME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4400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38% of effort adds value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566160" y="557784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124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566160" y="5577840"/>
            <a:ext cx="2377440" cy="45720"/>
          </a:xfrm>
          <a:prstGeom prst="rect">
            <a:avLst/>
          </a:prstGeom>
          <a:solidFill>
            <a:srgbClr val="D11242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5715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566160" y="6172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HANDOFFS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566160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3-5 day queue per handoff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17920" y="557784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124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5577840"/>
            <a:ext cx="2377440" cy="45720"/>
          </a:xfrm>
          <a:prstGeom prst="rect">
            <a:avLst/>
          </a:prstGeom>
          <a:solidFill>
            <a:srgbClr val="D11242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5715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$4.2M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217920" y="6172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APPLICATION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17920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apps = $420M/year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869680" y="557784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124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869680" y="5577840"/>
            <a:ext cx="2377440" cy="45720"/>
          </a:xfrm>
          <a:prstGeom prst="rect">
            <a:avLst/>
          </a:prstGeom>
          <a:solidFill>
            <a:srgbClr val="D11242"/>
          </a:solidFill>
          <a:ln/>
        </p:spPr>
      </p:sp>
      <p:sp>
        <p:nvSpPr>
          <p:cNvPr id="33" name="Text 31"/>
          <p:cNvSpPr/>
          <p:nvPr/>
        </p:nvSpPr>
        <p:spPr>
          <a:xfrm>
            <a:off x="8869680" y="5715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25%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8869680" y="6172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CODING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869680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75% meetings, docs, process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178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Office of the Chief AI Officer  |  Technology Transformation Strategy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6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Application: 8,500 Hours Across 44 Weeks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handoffs  •  6 governance gates  •  23 approval steps  •  34% rework rate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0" y="1965960"/>
            <a:ext cx="8686800" cy="292608"/>
          </a:xfrm>
          <a:prstGeom prst="roundRect">
            <a:avLst>
              <a:gd name="adj" fmla="val 12500"/>
            </a:avLst>
          </a:prstGeom>
          <a:solidFill>
            <a:srgbClr val="F5F5F3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965960"/>
            <a:ext cx="1563624" cy="292608"/>
          </a:xfrm>
          <a:prstGeom prst="roundRect">
            <a:avLst>
              <a:gd name="adj" fmla="val 12500"/>
            </a:avLst>
          </a:prstGeom>
          <a:solidFill>
            <a:srgbClr val="D11242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965960"/>
            <a:ext cx="1563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1,200 hrs • 8 wks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2560320"/>
            <a:ext cx="8686800" cy="292608"/>
          </a:xfrm>
          <a:prstGeom prst="roundRect">
            <a:avLst>
              <a:gd name="adj" fmla="val 12500"/>
            </a:avLst>
          </a:prstGeom>
          <a:solidFill>
            <a:srgbClr val="F5F5F3"/>
          </a:solidFill>
          <a:ln/>
        </p:spPr>
      </p:sp>
      <p:sp>
        <p:nvSpPr>
          <p:cNvPr id="11" name="Shape 9"/>
          <p:cNvSpPr/>
          <p:nvPr/>
        </p:nvSpPr>
        <p:spPr>
          <a:xfrm>
            <a:off x="3589020" y="2560320"/>
            <a:ext cx="1042416" cy="292608"/>
          </a:xfrm>
          <a:prstGeom prst="roundRect">
            <a:avLst>
              <a:gd name="adj" fmla="val 12500"/>
            </a:avLst>
          </a:prstGeom>
          <a:solidFill>
            <a:srgbClr val="D11242"/>
          </a:solidFill>
          <a:ln/>
        </p:spPr>
      </p:sp>
      <p:sp>
        <p:nvSpPr>
          <p:cNvPr id="12" name="Text 10"/>
          <p:cNvSpPr/>
          <p:nvPr/>
        </p:nvSpPr>
        <p:spPr>
          <a:xfrm>
            <a:off x="3589020" y="2560320"/>
            <a:ext cx="1042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800 hrs • 5 wks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0" y="3154680"/>
            <a:ext cx="8686800" cy="292608"/>
          </a:xfrm>
          <a:prstGeom prst="roundRect">
            <a:avLst>
              <a:gd name="adj" fmla="val 12500"/>
            </a:avLst>
          </a:prstGeom>
          <a:solidFill>
            <a:srgbClr val="F5F5F3"/>
          </a:solidFill>
          <a:ln/>
        </p:spPr>
      </p:sp>
      <p:sp>
        <p:nvSpPr>
          <p:cNvPr id="15" name="Shape 13"/>
          <p:cNvSpPr/>
          <p:nvPr/>
        </p:nvSpPr>
        <p:spPr>
          <a:xfrm>
            <a:off x="4457700" y="3154680"/>
            <a:ext cx="2779776" cy="292608"/>
          </a:xfrm>
          <a:prstGeom prst="roundRect">
            <a:avLst>
              <a:gd name="adj" fmla="val 12500"/>
            </a:avLst>
          </a:prstGeom>
          <a:solidFill>
            <a:srgbClr val="D11242"/>
          </a:solidFill>
          <a:ln/>
        </p:spPr>
      </p:sp>
      <p:sp>
        <p:nvSpPr>
          <p:cNvPr id="16" name="Text 14"/>
          <p:cNvSpPr/>
          <p:nvPr/>
        </p:nvSpPr>
        <p:spPr>
          <a:xfrm>
            <a:off x="4457700" y="3154680"/>
            <a:ext cx="2779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2,800 hrs • 14 wks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3703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0" y="3749040"/>
            <a:ext cx="8686800" cy="292608"/>
          </a:xfrm>
          <a:prstGeom prst="roundRect">
            <a:avLst>
              <a:gd name="adj" fmla="val 12500"/>
            </a:avLst>
          </a:prstGeom>
          <a:solidFill>
            <a:srgbClr val="F5F5F3"/>
          </a:solidFill>
          <a:ln/>
        </p:spPr>
      </p:sp>
      <p:sp>
        <p:nvSpPr>
          <p:cNvPr id="19" name="Shape 17"/>
          <p:cNvSpPr/>
          <p:nvPr/>
        </p:nvSpPr>
        <p:spPr>
          <a:xfrm>
            <a:off x="6976872" y="3749040"/>
            <a:ext cx="1737360" cy="292608"/>
          </a:xfrm>
          <a:prstGeom prst="roundRect">
            <a:avLst>
              <a:gd name="adj" fmla="val 12500"/>
            </a:avLst>
          </a:prstGeom>
          <a:solidFill>
            <a:srgbClr val="D11242"/>
          </a:solidFill>
          <a:ln/>
        </p:spPr>
      </p:sp>
      <p:sp>
        <p:nvSpPr>
          <p:cNvPr id="20" name="Text 18"/>
          <p:cNvSpPr/>
          <p:nvPr/>
        </p:nvSpPr>
        <p:spPr>
          <a:xfrm>
            <a:off x="6976872" y="37490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1,800 hrs • 9 wks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4297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0" y="4343400"/>
            <a:ext cx="8686800" cy="292608"/>
          </a:xfrm>
          <a:prstGeom prst="roundRect">
            <a:avLst>
              <a:gd name="adj" fmla="val 12500"/>
            </a:avLst>
          </a:prstGeom>
          <a:solidFill>
            <a:srgbClr val="F5F5F3"/>
          </a:solidFill>
          <a:ln/>
        </p:spPr>
      </p:sp>
      <p:sp>
        <p:nvSpPr>
          <p:cNvPr id="23" name="Shape 21"/>
          <p:cNvSpPr/>
          <p:nvPr/>
        </p:nvSpPr>
        <p:spPr>
          <a:xfrm>
            <a:off x="8540496" y="4343400"/>
            <a:ext cx="1216152" cy="292608"/>
          </a:xfrm>
          <a:prstGeom prst="roundRect">
            <a:avLst>
              <a:gd name="adj" fmla="val 12500"/>
            </a:avLst>
          </a:prstGeom>
          <a:solidFill>
            <a:srgbClr val="D11242"/>
          </a:solidFill>
          <a:ln/>
        </p:spPr>
      </p:sp>
      <p:sp>
        <p:nvSpPr>
          <p:cNvPr id="24" name="Text 22"/>
          <p:cNvSpPr/>
          <p:nvPr/>
        </p:nvSpPr>
        <p:spPr>
          <a:xfrm>
            <a:off x="8540496" y="4343400"/>
            <a:ext cx="1216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1,100 hrs • 5 wks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0" y="4937760"/>
            <a:ext cx="7818120" cy="292608"/>
          </a:xfrm>
          <a:prstGeom prst="roundRect">
            <a:avLst>
              <a:gd name="adj" fmla="val 12500"/>
            </a:avLst>
          </a:prstGeom>
          <a:solidFill>
            <a:srgbClr val="D11242">
              <a:alpha val="15000"/>
            </a:srgbClr>
          </a:solidFill>
          <a:ln w="9525">
            <a:solidFill>
              <a:srgbClr val="D11242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2286000" y="4937760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800 hrs — continuous overhead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14400" y="5303520"/>
            <a:ext cx="10360152" cy="640080"/>
          </a:xfrm>
          <a:prstGeom prst="roundRect">
            <a:avLst>
              <a:gd name="adj" fmla="val 14286"/>
            </a:avLst>
          </a:prstGeom>
          <a:solidFill>
            <a:srgbClr val="FDF0F3"/>
          </a:solidFill>
          <a:ln w="19050">
            <a:solidFill>
              <a:srgbClr val="D112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8720" y="5349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DELIVERY EFFORT PER APPLICATION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56235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62% wait time  •  34% rework rate  •  $4.2M blended cost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0" y="5349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19050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8,500 hrs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178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Office of the Chief AI Officer  |  Technology Transformation Strategy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PROVOCATION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If 95% of This Effort</a:t>
            </a:r>
            <a:endParaRPr lang="en-US" sz="30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Never Necessary?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Strip away the coordination, the handoffs, the documentation theatre, the environment provisioning, the regression testing, the manual code review, the compliance evidence gathering.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remains is judgement. Product judgement. Technical judgement. Data judgement. Risk judgement.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else is execution that Claude Code can perform autonomously, at machine speed, with perfect consistency.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Writing code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0" y="1828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0" y="2148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Writing tests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0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review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0" y="2788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scripting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0" y="2788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0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0" y="3108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58000" y="3429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 setup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0" y="3429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evidence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0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0" y="4069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scanning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0" y="4069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0" y="4389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Regression testing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0" y="4389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0" y="4709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triage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371600" y="5074920"/>
            <a:ext cx="9445752" cy="9144"/>
          </a:xfrm>
          <a:prstGeom prst="rect">
            <a:avLst/>
          </a:prstGeom>
          <a:solidFill>
            <a:srgbClr val="003B70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5212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&amp; judgement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0" y="5212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58000" y="5532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&amp; risk decisions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0" y="5532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14400" y="50292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</a:t>
            </a:r>
            <a:endParaRPr lang="en-US" sz="6400" dirty="0"/>
          </a:p>
        </p:txBody>
      </p:sp>
      <p:sp>
        <p:nvSpPr>
          <p:cNvPr id="31" name="Text 29"/>
          <p:cNvSpPr/>
          <p:nvPr/>
        </p:nvSpPr>
        <p:spPr>
          <a:xfrm>
            <a:off x="914400" y="58521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technology effort is execution,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judgement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178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Office of the Chief AI Officer  |  Technology Transformation Strategy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ENTERPRISE DNA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bank.md: One File to Rule Them All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Instead of 120 GRC analysts, 18 architects, and 340 QA engineers enforcing standards manually, a single markdown file becomes the immutable constitution of your technology estate.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6400800" cy="4114800"/>
          </a:xfrm>
          <a:prstGeom prst="roundRect">
            <a:avLst>
              <a:gd name="adj" fmla="val 2667"/>
            </a:avLst>
          </a:prstGeom>
          <a:solidFill>
            <a:srgbClr val="0D1117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03120"/>
            <a:ext cx="6400800" cy="320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176272"/>
            <a:ext cx="137160" cy="13716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217627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2176272"/>
            <a:ext cx="137160" cy="137160"/>
          </a:xfrm>
          <a:prstGeom prst="ellipse">
            <a:avLst/>
          </a:prstGeom>
          <a:solidFill>
            <a:srgbClr val="28CA41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21214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bank.md — Enterprise Archetype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2514600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BANK.MD — Global Enterprise Archetype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" y="2697480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05840" y="2880360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9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1. Architecture Standards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05840" y="3063240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default_pattern: event-driven-microservices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05840" y="3246120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api_standard: OpenAPI 3.1, contract-first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05840" y="3429000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max_service_size: 500 lines business logic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05840" y="3611880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05840" y="3794760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9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2. Security &amp; Compliance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05840" y="3977640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RULE: No secrets in code. All via Vault.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05840" y="4160520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RULE: PII encrypted AES-256 at rest, TLS 1.3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05840" y="4343400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RULE: OWASP Top 10 scan on every commit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05840" y="4526280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RULE: 4-eyes principle — no self-approval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05840" y="4709160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05840" y="4892040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9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3. Testing (shift-left, no QA phase)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05840" y="5074920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MANDATORY: Unit coverage ≥ 90%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05840" y="5257800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MANDATORY: Integration tests per API contract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05840" y="5440680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test_generation: AT CODE CREATION, not after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05840" y="5623560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05840" y="5806440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9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4-6. Design, Deployment, Governance ...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498080" y="210312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98080" y="2103120"/>
            <a:ext cx="4114800" cy="36576"/>
          </a:xfrm>
          <a:prstGeom prst="rect">
            <a:avLst/>
          </a:prstGeom>
          <a:solidFill>
            <a:srgbClr val="D11242"/>
          </a:solidFill>
          <a:ln/>
        </p:spPr>
      </p:sp>
      <p:sp>
        <p:nvSpPr>
          <p:cNvPr id="32" name="Text 30"/>
          <p:cNvSpPr/>
          <p:nvPr/>
        </p:nvSpPr>
        <p:spPr>
          <a:xfrm>
            <a:off x="7680960" y="2194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80960" y="24231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Replaces: 18 architects + ARB committees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8096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 auto-enforced. Deviations impossible.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498080" y="315468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98080" y="3154680"/>
            <a:ext cx="4114800" cy="36576"/>
          </a:xfrm>
          <a:prstGeom prst="rect">
            <a:avLst/>
          </a:prstGeom>
          <a:solidFill>
            <a:srgbClr val="D11242"/>
          </a:solidFill>
          <a:ln/>
        </p:spPr>
      </p:sp>
      <p:sp>
        <p:nvSpPr>
          <p:cNvPr id="37" name="Text 35"/>
          <p:cNvSpPr/>
          <p:nvPr/>
        </p:nvSpPr>
        <p:spPr>
          <a:xfrm>
            <a:off x="7680960" y="32461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680960" y="34747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Replaces: Manual security reviews + pen test queues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680960" y="3703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 real-time, not post-hoc.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98080" y="420624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498080" y="4206240"/>
            <a:ext cx="4114800" cy="36576"/>
          </a:xfrm>
          <a:prstGeom prst="rect">
            <a:avLst/>
          </a:prstGeom>
          <a:solidFill>
            <a:srgbClr val="D11242"/>
          </a:solidFill>
          <a:ln/>
        </p:spPr>
      </p:sp>
      <p:sp>
        <p:nvSpPr>
          <p:cNvPr id="42" name="Text 40"/>
          <p:cNvSpPr/>
          <p:nvPr/>
        </p:nvSpPr>
        <p:spPr>
          <a:xfrm>
            <a:off x="7680960" y="4297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680960" y="45262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Replaces: 340 QA engineers + 1,800 hrs/app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680960" y="4754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generated with code. QA phase eliminated.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498080" y="52578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498080" y="5257800"/>
            <a:ext cx="4114800" cy="36576"/>
          </a:xfrm>
          <a:prstGeom prst="rect">
            <a:avLst/>
          </a:prstGeom>
          <a:solidFill>
            <a:srgbClr val="D11242"/>
          </a:solidFill>
          <a:ln/>
        </p:spPr>
      </p:sp>
      <p:sp>
        <p:nvSpPr>
          <p:cNvPr id="47" name="Text 45"/>
          <p:cNvSpPr/>
          <p:nvPr/>
        </p:nvSpPr>
        <p:spPr>
          <a:xfrm>
            <a:off x="7680960" y="53492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680960" y="55778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Replaces: 120 compliance analysts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680960" y="5806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action is an audit event. Zero manual effort.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178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Office of the Chief AI Officer  |  Technology Transformation Strategy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Humans. Infinite Capability.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103120" cy="45720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2103120" cy="1005840"/>
          </a:xfrm>
          <a:prstGeom prst="rect">
            <a:avLst/>
          </a:prstGeom>
          <a:solidFill>
            <a:srgbClr val="0F163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2103120" cy="1097280"/>
          </a:xfrm>
          <a:prstGeom prst="roundRect">
            <a:avLst>
              <a:gd name="adj" fmla="val 8333"/>
            </a:avLst>
          </a:prstGeom>
          <a:solidFill>
            <a:srgbClr val="0F163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103120"/>
            <a:ext cx="2103120" cy="548640"/>
          </a:xfrm>
          <a:prstGeom prst="rect">
            <a:avLst/>
          </a:prstGeom>
          <a:solidFill>
            <a:srgbClr val="0F163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002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28803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vision, roadmap,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 alignment,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trade-offs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FDF0F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605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HANDLES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0080" y="43434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stories, regulatory mapping,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analysis, PRD generation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0" y="1554480"/>
            <a:ext cx="2103120" cy="45720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0" y="1554480"/>
            <a:ext cx="2103120" cy="1005840"/>
          </a:xfrm>
          <a:prstGeom prst="rect">
            <a:avLst/>
          </a:prstGeom>
          <a:solidFill>
            <a:srgbClr val="0F1632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0" y="1554480"/>
            <a:ext cx="2103120" cy="1097280"/>
          </a:xfrm>
          <a:prstGeom prst="roundRect">
            <a:avLst>
              <a:gd name="adj" fmla="val 8333"/>
            </a:avLst>
          </a:prstGeom>
          <a:solidFill>
            <a:srgbClr val="0F1632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0" y="2103120"/>
            <a:ext cx="2103120" cy="548640"/>
          </a:xfrm>
          <a:prstGeom prst="rect">
            <a:avLst/>
          </a:prstGeom>
          <a:solidFill>
            <a:srgbClr val="0F1632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16002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743200" y="19659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Full-Stack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80360" y="26974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880360" y="28803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evolution,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review &amp; approval,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edge-case engineering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834640" y="411480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FDF0F3"/>
          </a:solidFill>
          <a:ln/>
        </p:spPr>
      </p:sp>
      <p:sp>
        <p:nvSpPr>
          <p:cNvPr id="24" name="Text 22"/>
          <p:cNvSpPr/>
          <p:nvPr/>
        </p:nvSpPr>
        <p:spPr>
          <a:xfrm>
            <a:off x="2926080" y="41605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HANDLES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926080" y="43434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code generation, testing,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CI/CD, IaC, deployment,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remediation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29200" y="1554480"/>
            <a:ext cx="2103120" cy="45720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0" y="1554480"/>
            <a:ext cx="2103120" cy="1005840"/>
          </a:xfrm>
          <a:prstGeom prst="rect">
            <a:avLst/>
          </a:prstGeom>
          <a:solidFill>
            <a:srgbClr val="0F1632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0" y="1554480"/>
            <a:ext cx="2103120" cy="1097280"/>
          </a:xfrm>
          <a:prstGeom prst="roundRect">
            <a:avLst>
              <a:gd name="adj" fmla="val 8333"/>
            </a:avLst>
          </a:prstGeom>
          <a:solidFill>
            <a:srgbClr val="0F1632"/>
          </a:solidFill>
          <a:ln/>
        </p:spPr>
      </p:sp>
      <p:sp>
        <p:nvSpPr>
          <p:cNvPr id="29" name="Shape 27"/>
          <p:cNvSpPr/>
          <p:nvPr/>
        </p:nvSpPr>
        <p:spPr>
          <a:xfrm>
            <a:off x="5029200" y="2103120"/>
            <a:ext cx="2103120" cy="548640"/>
          </a:xfrm>
          <a:prstGeom prst="rect">
            <a:avLst/>
          </a:prstGeom>
          <a:solidFill>
            <a:srgbClr val="0F1632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16002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029200" y="19659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66360" y="26974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66360" y="28803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servers, agent roles,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 &amp; permissions,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engineering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120640" y="411480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FDF0F3"/>
          </a:solidFill>
          <a:ln/>
        </p:spPr>
      </p:sp>
      <p:sp>
        <p:nvSpPr>
          <p:cNvPr id="35" name="Text 33"/>
          <p:cNvSpPr/>
          <p:nvPr/>
        </p:nvSpPr>
        <p:spPr>
          <a:xfrm>
            <a:off x="5212080" y="41605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HANDLES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212080" y="43434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Executing agentic workflows,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multi-step orchestration,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operations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315200" y="1554480"/>
            <a:ext cx="2103120" cy="45720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315200" y="1554480"/>
            <a:ext cx="2103120" cy="1005840"/>
          </a:xfrm>
          <a:prstGeom prst="rect">
            <a:avLst/>
          </a:prstGeom>
          <a:solidFill>
            <a:srgbClr val="0F1632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0" y="1554480"/>
            <a:ext cx="2103120" cy="1097280"/>
          </a:xfrm>
          <a:prstGeom prst="roundRect">
            <a:avLst>
              <a:gd name="adj" fmla="val 8333"/>
            </a:avLst>
          </a:prstGeom>
          <a:solidFill>
            <a:srgbClr val="0F1632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0" y="2103120"/>
            <a:ext cx="2103120" cy="548640"/>
          </a:xfrm>
          <a:prstGeom prst="rect">
            <a:avLst/>
          </a:prstGeom>
          <a:solidFill>
            <a:srgbClr val="0F1632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0" y="16002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7315200" y="19659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452360" y="26974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452360" y="28803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model, lineage,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residency rules, ML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governance, quality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406640" y="411480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FDF0F3"/>
          </a:solidFill>
          <a:ln/>
        </p:spPr>
      </p:sp>
      <p:sp>
        <p:nvSpPr>
          <p:cNvPr id="46" name="Text 44"/>
          <p:cNvSpPr/>
          <p:nvPr/>
        </p:nvSpPr>
        <p:spPr>
          <a:xfrm>
            <a:off x="7498080" y="41605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HANDLES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498080" y="43434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gen, ETL pipelines,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training, dashboards,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documentation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9601200" y="1554480"/>
            <a:ext cx="2103120" cy="45720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601200" y="1554480"/>
            <a:ext cx="2103120" cy="1005840"/>
          </a:xfrm>
          <a:prstGeom prst="rect">
            <a:avLst/>
          </a:prstGeom>
          <a:solidFill>
            <a:srgbClr val="0F1632"/>
          </a:solidFill>
          <a:ln/>
        </p:spPr>
      </p:sp>
      <p:sp>
        <p:nvSpPr>
          <p:cNvPr id="50" name="Shape 48"/>
          <p:cNvSpPr/>
          <p:nvPr/>
        </p:nvSpPr>
        <p:spPr>
          <a:xfrm>
            <a:off x="9601200" y="1554480"/>
            <a:ext cx="2103120" cy="1097280"/>
          </a:xfrm>
          <a:prstGeom prst="roundRect">
            <a:avLst>
              <a:gd name="adj" fmla="val 8333"/>
            </a:avLst>
          </a:prstGeom>
          <a:solidFill>
            <a:srgbClr val="0F1632"/>
          </a:solidFill>
          <a:ln/>
        </p:spPr>
      </p:sp>
      <p:sp>
        <p:nvSpPr>
          <p:cNvPr id="51" name="Shape 49"/>
          <p:cNvSpPr/>
          <p:nvPr/>
        </p:nvSpPr>
        <p:spPr>
          <a:xfrm>
            <a:off x="9601200" y="2103120"/>
            <a:ext cx="2103120" cy="548640"/>
          </a:xfrm>
          <a:prstGeom prst="rect">
            <a:avLst/>
          </a:prstGeom>
          <a:solidFill>
            <a:srgbClr val="0F1632"/>
          </a:solidFill>
          <a:ln/>
        </p:spPr>
      </p:sp>
      <p:sp>
        <p:nvSpPr>
          <p:cNvPr id="52" name="Text 50"/>
          <p:cNvSpPr/>
          <p:nvPr/>
        </p:nvSpPr>
        <p:spPr>
          <a:xfrm>
            <a:off x="9601200" y="16002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800" dirty="0"/>
          </a:p>
        </p:txBody>
      </p:sp>
      <p:sp>
        <p:nvSpPr>
          <p:cNvPr id="53" name="Text 51"/>
          <p:cNvSpPr/>
          <p:nvPr/>
        </p:nvSpPr>
        <p:spPr>
          <a:xfrm>
            <a:off x="9601200" y="19659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CCO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738360" y="26974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9738360" y="28803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policy rules,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Tier-1 approvals, risk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framework, audit coord.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9692640" y="411480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FDF0F3"/>
          </a:solidFill>
          <a:ln/>
        </p:spPr>
      </p:sp>
      <p:sp>
        <p:nvSpPr>
          <p:cNvPr id="57" name="Text 55"/>
          <p:cNvSpPr/>
          <p:nvPr/>
        </p:nvSpPr>
        <p:spPr>
          <a:xfrm>
            <a:off x="9784080" y="41605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HANDLES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9784080" y="43434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generation, SOX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monitoring, change detection,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testing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371600" y="5440680"/>
            <a:ext cx="4114800" cy="640080"/>
          </a:xfrm>
          <a:prstGeom prst="roundRect">
            <a:avLst>
              <a:gd name="adj" fmla="val 14286"/>
            </a:avLst>
          </a:prstGeom>
          <a:solidFill>
            <a:srgbClr val="FDF0F3"/>
          </a:solidFill>
          <a:ln w="19050">
            <a:solidFill>
              <a:srgbClr val="D1124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554480" y="5440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2,008</a:t>
            </a:r>
            <a:endParaRPr lang="en-US" sz="2800" dirty="0"/>
          </a:p>
        </p:txBody>
      </p:sp>
      <p:sp>
        <p:nvSpPr>
          <p:cNvPr id="61" name="Text 59"/>
          <p:cNvSpPr/>
          <p:nvPr/>
        </p:nvSpPr>
        <p:spPr>
          <a:xfrm>
            <a:off x="2926080" y="5440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TODAY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$813M / YEAR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669280" y="54406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63" name="Shape 61"/>
          <p:cNvSpPr/>
          <p:nvPr/>
        </p:nvSpPr>
        <p:spPr>
          <a:xfrm>
            <a:off x="6583680" y="5440680"/>
            <a:ext cx="4114800" cy="640080"/>
          </a:xfrm>
          <a:prstGeom prst="roundRect">
            <a:avLst>
              <a:gd name="adj" fmla="val 14286"/>
            </a:avLst>
          </a:prstGeom>
          <a:solidFill>
            <a:srgbClr val="EDF7F0"/>
          </a:solidFill>
          <a:ln w="19050">
            <a:solidFill>
              <a:srgbClr val="0D9B5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66560" y="5440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800" dirty="0"/>
          </a:p>
        </p:txBody>
      </p:sp>
      <p:sp>
        <p:nvSpPr>
          <p:cNvPr id="65" name="Text 63"/>
          <p:cNvSpPr/>
          <p:nvPr/>
        </p:nvSpPr>
        <p:spPr>
          <a:xfrm>
            <a:off x="7772400" y="54406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+ CLAUDE CODE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$9M / YEAR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178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Office of the Chief AI Officer  |  Technology Transformation Strategy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NEW SDLC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8,500 Hours to 72 Hours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D9B5C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1417320"/>
            <a:ext cx="365760" cy="365760"/>
          </a:xfrm>
          <a:prstGeom prst="ellipse">
            <a:avLst/>
          </a:prstGeom>
          <a:solidFill>
            <a:srgbClr val="0D9B5C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2h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CPO + Engineer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29260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language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5176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B5C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971800" y="15544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D9B5C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49040" y="1417320"/>
            <a:ext cx="365760" cy="365760"/>
          </a:xfrm>
          <a:prstGeom prst="ellipse">
            <a:avLst/>
          </a:prstGeom>
          <a:solidFill>
            <a:srgbClr val="0D9B5C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7180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71800" y="2194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8h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971800" y="2651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08960" y="29260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Code, tests, IaC,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docs, compliance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B5C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212080" y="15544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D9B5C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89320" y="1417320"/>
            <a:ext cx="365760" cy="365760"/>
          </a:xfrm>
          <a:prstGeom prst="ellipse">
            <a:avLst/>
          </a:prstGeom>
          <a:solidFill>
            <a:srgbClr val="0D9B5C"/>
          </a:solidFill>
          <a:ln/>
        </p:spPr>
      </p:sp>
      <p:sp>
        <p:nvSpPr>
          <p:cNvPr id="22" name="Text 20"/>
          <p:cNvSpPr/>
          <p:nvPr/>
        </p:nvSpPr>
        <p:spPr>
          <a:xfrm>
            <a:off x="598932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12080" y="2194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6h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212080" y="2651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 + Data + CCO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49240" y="29260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judgement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Claude output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3232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B5C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452360" y="15544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D9B5C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0" y="1417320"/>
            <a:ext cx="365760" cy="365760"/>
          </a:xfrm>
          <a:prstGeom prst="ellipse">
            <a:avLst/>
          </a:prstGeom>
          <a:solidFill>
            <a:srgbClr val="0D9B5C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5236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52360" y="2194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4h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452360" y="2651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(directed)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589520" y="29260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loops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minutes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37260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B5C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692640" y="15544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D9B5C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469880" y="1417320"/>
            <a:ext cx="365760" cy="365760"/>
          </a:xfrm>
          <a:prstGeom prst="ellipse">
            <a:avLst/>
          </a:prstGeom>
          <a:solidFill>
            <a:srgbClr val="0D9B5C"/>
          </a:solidFill>
          <a:ln/>
        </p:spPr>
      </p:sp>
      <p:sp>
        <p:nvSpPr>
          <p:cNvPr id="38" name="Text 36"/>
          <p:cNvSpPr/>
          <p:nvPr/>
        </p:nvSpPr>
        <p:spPr>
          <a:xfrm>
            <a:off x="1046988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9264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692640" y="2194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2h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9692640" y="2651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+ CCO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829800" y="29260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Canary deploy,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CCO approves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14400" y="4389120"/>
            <a:ext cx="10360152" cy="594360"/>
          </a:xfrm>
          <a:prstGeom prst="roundRect">
            <a:avLst>
              <a:gd name="adj" fmla="val 15385"/>
            </a:avLst>
          </a:prstGeom>
          <a:solidFill>
            <a:srgbClr val="EDF7F0"/>
          </a:solidFill>
          <a:ln w="19050">
            <a:solidFill>
              <a:srgbClr val="0D9B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88720" y="44348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TOTAL: INTENT TO PRODUCTION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88720" y="46634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application  •  3 calendar days  •  5 humans involved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00800" y="4434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19050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~22 hrs human + ~50 hrs Claude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914400" y="521208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i="1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"Where did Testing go?" — It didn't go anywhere. It's embedded in Step 2.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i="1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are generated with code, run in CI in seconds, and gate every merge. 1,800 hours → 0 separate hours.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14400" y="603504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FDF0F3"/>
          </a:solidFill>
          <a:ln/>
        </p:spPr>
      </p:sp>
      <p:sp>
        <p:nvSpPr>
          <p:cNvPr id="49" name="Text 47"/>
          <p:cNvSpPr/>
          <p:nvPr/>
        </p:nvSpPr>
        <p:spPr>
          <a:xfrm>
            <a:off x="1097280" y="60807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TODAY:  32 people  •  8,500 hrs  •  44 weeks  •  $4.2M  •  18 defects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17920" y="603504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EDF7F0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0" y="60807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FUTURE:  5 people  •  22 hrs  •  3 days  •  ~$12K  •  ~0 defects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178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Office of the Chief AI Officer  |  Technology Transformation Strategy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DEMONSTRATION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Wealth Advisory CRM</a:t>
            </a:r>
            <a:endParaRPr lang="en-US" sz="3400" dirty="0"/>
          </a:p>
          <a:p>
            <a:pPr algn="l"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in 3 Days by 5 People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360  •  AI recommendations  •  Advisor dashboard  •  MiFID II compliance  •  Client portal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2,500 HNW clients  •  180 relationship managers  •  $127B AUM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108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103120" y="3108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09:00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bank.md as CLAUDE.md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4023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B3E0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520440" y="30175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3108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92040" y="3108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09:05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Nervous System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MCP servers, 6 agent roles, guardrails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0" y="4023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B3E0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Engineer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309360" y="30175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108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680960" y="3108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10:30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4652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 &amp; UI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 user stories, 68 React components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46520" y="4023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B3E0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CPO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098280" y="30175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3108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469880" y="3108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13:30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23544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&amp; Data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3544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tables, 287K synthetic transactions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235440" y="4023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B3E0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31520" y="46634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103120" y="47548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15:30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68680" y="5029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to AWS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68680" y="5303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Terraform, ECS, RDS, CloudFront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68680" y="5669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B3E0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520440" y="46634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92040" y="47548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57600" y="5029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Build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657600" y="5303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services, 3 ML models, 2,847 tests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0" y="5669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B3E0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+ Eng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309360" y="46634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7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680960" y="47548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446520" y="5029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CCO Compliance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446520" y="5303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18/18 controls pass, 142-pg evidence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46520" y="5669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B3E0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CCO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Office of the Chief AI Officer  |  Technology Transformation Strategy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2: AI ENGINEER WIRES THE NERVOUS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731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4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Servers, Agentic Workflows &amp; Guardrails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MCP SERVERS — 47 TOOLS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 FICO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03120" y="1737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get_client, get_balances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74720" y="1737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Bloomberg B-PIPE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63440" y="1737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get_quotes, stream_prices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Refinitiv KYC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3120" y="2194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screen_client, check_pep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0" y="2194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Infra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0" y="2194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deploy_service, scale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0" y="2651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03120" y="26517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query, migrate, seed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74720" y="2651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Service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26517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tokens, RBAC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4400" y="3108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Jira/Confluence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3108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create_ticket, docs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74720" y="3108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Eng.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3108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get_rules, validate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AGENT ROLES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1737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code-gen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write/edit code, read MCP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test-gen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write tests, run suites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read-only code, flag issues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2834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2834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trigger deploy (human OK)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0" y="3200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read-only, run audits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0" y="3566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incident-bot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read logs, draft RCA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" y="3931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AUTOMATED HOOKS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14400" y="4251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pre-commit: SAST scan + CLAUDE.md policy check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14400" y="4572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pre-merge: full test suite + compliance gate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14400" y="4892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post-deploy: smoke test + canary health check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0" y="3931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HARD GUARDRAILS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4251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⛔  MAX_FILES_PER_SESSION: 50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0" y="4572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⛔  BLOCKED: direct production DB writes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0" y="4892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⛔  BLOCKED: secret access without CCO approval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0" y="5212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⛔  BLOCKED: deployment without 4-eyes sign-off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0" y="5532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⛔  REQUIRE_HUMAN: any Tier-1 system change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14400" y="5760720"/>
            <a:ext cx="10360152" cy="54864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>
          <a:xfrm>
            <a:off x="1188720" y="5760720"/>
            <a:ext cx="9811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ENGINEER: NERVOUS SYSTEM LIVE  —  8 MCP servers (47 tools)  •  6 agent roles  •  3 hooks  •  5 guardrails  •  Full observability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178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Office of the Chief AI Officer  |  Technology Transformation Strategy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Production-Grade Wealth Advisory CRM.</a:t>
            </a:r>
            <a:endParaRPr lang="en-US" sz="3000" dirty="0"/>
          </a:p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Days. 5 People. Zero Defects.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40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971800" y="210312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2240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97180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212080" y="210312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2240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18/18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21208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</a:t>
            </a:r>
            <a:endParaRPr lang="en-US" sz="8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452360" y="210312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2240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2,847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45236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</a:t>
            </a:r>
            <a:endParaRPr lang="en-US" sz="8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692640" y="210312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0" y="2240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~$12K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69264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</a:t>
            </a:r>
            <a:endParaRPr lang="en-US" sz="8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1520" y="3566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WAS BUILT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38862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7AB3E0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 UI components  •  24-table encrypted database  •  12 microservices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7AB3E0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data pipelines  •  3 ML models  •  Kafka event streaming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7AB3E0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OAuth 2.0 + RBAC  •  Full observability  •  DR tested  •  Canary deploy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7AB3E0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142-page compliance evidence package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3566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REPLACES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0" y="38862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7AB3E0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32-person team  •  8,500 person-hours  •  44-week timeline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7AB3E0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$4.2M budget  •  14 handoffs  •  6 governance gates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7AB3E0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approval steps  •  1,800 hours of manual testing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7AB3E0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800 hours of compliance documentation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371600" y="5394960"/>
            <a:ext cx="9445752" cy="9144"/>
          </a:xfrm>
          <a:prstGeom prst="rect">
            <a:avLst/>
          </a:prstGeom>
          <a:solidFill>
            <a:srgbClr val="7AB3E0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557784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"This is not a proof of concept. This is proof that the old model is obsolete."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Office of the Chief AI Officer  |  Technology Transformation Strategy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 &amp; GOVERNANCE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Control, Not Less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regulator's first question: "how do you maintain control with five people?"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answer: better than you do with two thousand.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10725912" cy="3657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8952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BANK.MD + CLAUDE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10725912" cy="38404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9748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controls run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0" y="26974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Post-hoc (gates)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589520" y="26974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(embedded)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310896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0" y="31089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Sampling (5-10%)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89520" y="31089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of every change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520440"/>
            <a:ext cx="10725912" cy="38404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52044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quality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0" y="35204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Manual, inconsistent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89520" y="35204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Machine-generated, immutable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39319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detect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0" y="39319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to months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89520" y="39319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Milliseconds (prevented)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343400"/>
            <a:ext cx="10725912" cy="38404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34340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preparation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0" y="43434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6-8 weeks, $2M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89520" y="43434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(always ready)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" y="475488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enforcement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0" y="47548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Advisory (honour system)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89520" y="47548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 (cannot violate)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521208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257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Immutable Audit Trail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" y="54864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B3E0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action logged with full provenance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291840" y="52578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SOX / BASEL III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4389120" y="521208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5257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 Enforcement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26280" y="54864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B3E0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bank.md rules are hard constraints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949440" y="52578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PREVENTIVE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8046720" y="521208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83880" y="5257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4-Eyes with 5 People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83880" y="54864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B3E0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approval on all production changes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607040" y="52578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HUMAN-IN-LOOP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731520" y="603504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" y="60807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Security Coverage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68680" y="6309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B3E0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OWASP scan at generation time, not after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291840" y="608076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SHIFT-LEFT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4389120" y="603504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26280" y="60807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Sovereignty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26280" y="6309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B3E0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runs in your private cloud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949440" y="608076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GDPR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8046720" y="603504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83880" y="60807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 Change Detection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183880" y="6309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B3E0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Auto-flag when new rules impact code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607040" y="608076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FUTURE-PROOF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Office of the Chief AI Officer  |  Technology Transformation Strategy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Numbers That Will Define</a:t>
            </a:r>
            <a:endParaRPr lang="en-US" sz="3000" dirty="0"/>
          </a:p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Legacy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$804M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COST</a:t>
            </a:r>
            <a:endParaRPr lang="en-US" sz="8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520440" y="192024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2044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ORG COST</a:t>
            </a:r>
            <a:endParaRPr lang="en-US" sz="8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350x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0936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SPEED</a:t>
            </a:r>
            <a:endParaRPr lang="en-US" sz="8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IMPROVEMENT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098280" y="192024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wk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9828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TRANSITION</a:t>
            </a:r>
            <a:endParaRPr lang="en-US" sz="8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4320" y="3383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Spend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83080" y="3383280"/>
            <a:ext cx="8686800" cy="228600"/>
          </a:xfrm>
          <a:prstGeom prst="roundRect">
            <a:avLst>
              <a:gd name="adj" fmla="val 16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83080" y="3383280"/>
            <a:ext cx="8686800" cy="228600"/>
          </a:xfrm>
          <a:prstGeom prst="roundRect">
            <a:avLst>
              <a:gd name="adj" fmla="val 16000"/>
            </a:avLst>
          </a:prstGeom>
          <a:solidFill>
            <a:srgbClr val="D11242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783080" y="338328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$813M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783080" y="3666744"/>
            <a:ext cx="8686800" cy="228600"/>
          </a:xfrm>
          <a:prstGeom prst="roundRect">
            <a:avLst>
              <a:gd name="adj" fmla="val 16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783080" y="3666744"/>
            <a:ext cx="274320" cy="228600"/>
          </a:xfrm>
          <a:prstGeom prst="roundRect">
            <a:avLst>
              <a:gd name="adj" fmla="val 16000"/>
            </a:avLst>
          </a:prstGeom>
          <a:solidFill>
            <a:srgbClr val="0D9B5C"/>
          </a:solidFill>
          <a:ln/>
        </p:spPr>
      </p:sp>
      <p:sp>
        <p:nvSpPr>
          <p:cNvPr id="22" name="Text 20"/>
          <p:cNvSpPr/>
          <p:nvPr/>
        </p:nvSpPr>
        <p:spPr>
          <a:xfrm>
            <a:off x="1783080" y="366674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4023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Deploy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783080" y="4023360"/>
            <a:ext cx="8686800" cy="228600"/>
          </a:xfrm>
          <a:prstGeom prst="roundRect">
            <a:avLst>
              <a:gd name="adj" fmla="val 16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783080" y="4023360"/>
            <a:ext cx="8686800" cy="228600"/>
          </a:xfrm>
          <a:prstGeom prst="roundRect">
            <a:avLst>
              <a:gd name="adj" fmla="val 16000"/>
            </a:avLst>
          </a:prstGeom>
          <a:solidFill>
            <a:srgbClr val="D11242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783080" y="402336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 weeks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783080" y="4306824"/>
            <a:ext cx="8686800" cy="228600"/>
          </a:xfrm>
          <a:prstGeom prst="roundRect">
            <a:avLst>
              <a:gd name="adj" fmla="val 16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83080" y="4306824"/>
            <a:ext cx="274320" cy="228600"/>
          </a:xfrm>
          <a:prstGeom prst="roundRect">
            <a:avLst>
              <a:gd name="adj" fmla="val 16000"/>
            </a:avLst>
          </a:prstGeom>
          <a:solidFill>
            <a:srgbClr val="0D9B5C"/>
          </a:solidFill>
          <a:ln/>
        </p:spPr>
      </p:sp>
      <p:sp>
        <p:nvSpPr>
          <p:cNvPr id="29" name="Text 27"/>
          <p:cNvSpPr/>
          <p:nvPr/>
        </p:nvSpPr>
        <p:spPr>
          <a:xfrm>
            <a:off x="1783080" y="430682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days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4663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 / Year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783080" y="4663440"/>
            <a:ext cx="8686800" cy="228600"/>
          </a:xfrm>
          <a:prstGeom prst="roundRect">
            <a:avLst>
              <a:gd name="adj" fmla="val 16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83080" y="4663440"/>
            <a:ext cx="868680" cy="228600"/>
          </a:xfrm>
          <a:prstGeom prst="roundRect">
            <a:avLst>
              <a:gd name="adj" fmla="val 16000"/>
            </a:avLst>
          </a:prstGeom>
          <a:solidFill>
            <a:srgbClr val="D11242">
              <a:alpha val="6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783080" y="46634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~100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783080" y="4946904"/>
            <a:ext cx="8686800" cy="228600"/>
          </a:xfrm>
          <a:prstGeom prst="roundRect">
            <a:avLst>
              <a:gd name="adj" fmla="val 16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783080" y="4946904"/>
            <a:ext cx="8686800" cy="228600"/>
          </a:xfrm>
          <a:prstGeom prst="roundRect">
            <a:avLst>
              <a:gd name="adj" fmla="val 16000"/>
            </a:avLst>
          </a:prstGeom>
          <a:solidFill>
            <a:srgbClr val="0D9B5C"/>
          </a:solidFill>
          <a:ln/>
        </p:spPr>
      </p:sp>
      <p:sp>
        <p:nvSpPr>
          <p:cNvPr id="36" name="Text 34"/>
          <p:cNvSpPr/>
          <p:nvPr/>
        </p:nvSpPr>
        <p:spPr>
          <a:xfrm>
            <a:off x="1783080" y="4946904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~1,000+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" y="53035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Defects / App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783080" y="5303520"/>
            <a:ext cx="8686800" cy="228600"/>
          </a:xfrm>
          <a:prstGeom prst="roundRect">
            <a:avLst>
              <a:gd name="adj" fmla="val 16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783080" y="5303520"/>
            <a:ext cx="7818120" cy="228600"/>
          </a:xfrm>
          <a:prstGeom prst="roundRect">
            <a:avLst>
              <a:gd name="adj" fmla="val 16000"/>
            </a:avLst>
          </a:prstGeom>
          <a:solidFill>
            <a:srgbClr val="D11242">
              <a:alpha val="6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783080" y="5303520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~18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783080" y="5586984"/>
            <a:ext cx="8686800" cy="228600"/>
          </a:xfrm>
          <a:prstGeom prst="roundRect">
            <a:avLst>
              <a:gd name="adj" fmla="val 16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783080" y="5586984"/>
            <a:ext cx="274320" cy="228600"/>
          </a:xfrm>
          <a:prstGeom prst="roundRect">
            <a:avLst>
              <a:gd name="adj" fmla="val 16000"/>
            </a:avLst>
          </a:prstGeom>
          <a:solidFill>
            <a:srgbClr val="0D9B5C"/>
          </a:solidFill>
          <a:ln/>
        </p:spPr>
      </p:sp>
      <p:sp>
        <p:nvSpPr>
          <p:cNvPr id="43" name="Text 41"/>
          <p:cNvSpPr/>
          <p:nvPr/>
        </p:nvSpPr>
        <p:spPr>
          <a:xfrm>
            <a:off x="1783080" y="55869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0" y="5943600"/>
            <a:ext cx="6702552" cy="457200"/>
          </a:xfrm>
          <a:prstGeom prst="roundRect">
            <a:avLst>
              <a:gd name="adj" fmla="val 16000"/>
            </a:avLst>
          </a:prstGeom>
          <a:solidFill>
            <a:srgbClr val="0D9B5C">
              <a:alpha val="15000"/>
            </a:srgbClr>
          </a:solidFill>
          <a:ln w="12700">
            <a:solidFill>
              <a:srgbClr val="0D9B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0" y="5943600"/>
            <a:ext cx="6702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B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$804M redirected to growth, M&amp;A, customer experience, or returned to shareholders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Office of the Chief AI Officer  |  Technology Transformation Strategy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Twelve Weeks to Transformation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502920" cy="502920"/>
          </a:xfrm>
          <a:prstGeom prst="ellipse">
            <a:avLst/>
          </a:prstGeom>
          <a:solidFill>
            <a:srgbClr val="D1124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47572" y="2057400"/>
            <a:ext cx="36576" cy="731520"/>
          </a:xfrm>
          <a:prstGeom prst="rect">
            <a:avLst/>
          </a:prstGeom>
          <a:solidFill>
            <a:srgbClr val="5A6178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1508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1-2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bank.md, Assemble The Five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2011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Appoint CPO, Engineer, AI Engineer, Data Architect, CCO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 bank.md v1.0  •  Deploy Claude Code  •  Select 3 pilot apps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788920"/>
            <a:ext cx="502920" cy="502920"/>
          </a:xfrm>
          <a:prstGeom prst="ellipse">
            <a:avLst/>
          </a:prstGeom>
          <a:solidFill>
            <a:srgbClr val="D1124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7572" y="3291840"/>
            <a:ext cx="36576" cy="731520"/>
          </a:xfrm>
          <a:prstGeom prst="rect">
            <a:avLst/>
          </a:prstGeom>
          <a:solidFill>
            <a:srgbClr val="5A6178">
              <a:alpha val="2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0" y="2743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3-4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45920" y="2971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 3 Applications in Days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45920" y="3246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 → Generate → Review → Iterate → Deploy cycle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to board and regulators  •  Refine bank.md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4023360"/>
            <a:ext cx="502920" cy="502920"/>
          </a:xfrm>
          <a:prstGeom prst="ellipse">
            <a:avLst/>
          </a:prstGeom>
          <a:solidFill>
            <a:srgbClr val="D11242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7572" y="4526280"/>
            <a:ext cx="36576" cy="731520"/>
          </a:xfrm>
          <a:prstGeom prst="rect">
            <a:avLst/>
          </a:prstGeom>
          <a:solidFill>
            <a:srgbClr val="5A6178">
              <a:alpha val="2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645920" y="3977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5-8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4592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Migrate Portfolio, Transition Workforce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45920" y="4480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Systematic migration of existing applications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15-20 apps migrated per week  •  Workforce transition programme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5257800"/>
            <a:ext cx="502920" cy="502920"/>
          </a:xfrm>
          <a:prstGeom prst="ellipse">
            <a:avLst/>
          </a:prstGeom>
          <a:solidFill>
            <a:srgbClr val="D11242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257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45920" y="5212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9-12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45920" y="5440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Five-Person Org Is Live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45920" y="57150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portfolio under bank.md governance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capacity: 1,000+ applications  •  Zero backlog  •  $9M/year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178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Office of the Chief AI Officer  |  Technology Transformation Strategy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EVIDENCE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731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6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Not Theory. It Is Already Happening.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64008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1463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Klarna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2011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$87B fintech  •  150M consumers  •  45 countries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88720" y="2286000"/>
            <a:ext cx="5852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Klarna reduced from 5,000 to ~3,500 employees through natural attrition — not mass layoffs — with a target of 2,000. Revenue per employee increased 73%. They replaced Salesforce, Workday, and 12 marketing agencies with AI-built alternatives. Their AI assistant handled 2.3M conversations in month one — equivalent to 700 agents. Resolution time dropped from 11 to 2 minutes.</a:t>
            </a:r>
            <a:endParaRPr lang="en-US" sz="1100" dirty="0"/>
          </a:p>
          <a:p>
            <a:pPr algn="l" indent="0" marL="0">
              <a:lnSpc>
                <a:spcPts val="1700"/>
              </a:lnSpc>
              <a:buNone/>
            </a:pPr>
            <a:endParaRPr lang="en-US" sz="11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July 2025, Klarna completed its IPO at $87B — the largest European tech IPO in a decade. The market explicitly valued the AI-native model.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589520" y="137160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89520" y="1371600"/>
            <a:ext cx="54864" cy="1371600"/>
          </a:xfrm>
          <a:prstGeom prst="rect">
            <a:avLst/>
          </a:prstGeom>
          <a:solidFill>
            <a:srgbClr val="D11242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14173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i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"AI can already do all of the jobs that we as humans do. We have basically stopped hiring. The AI is doing the job."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63840" y="2331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Sebastian Siemiatkowski, CEO — Bloomberg, 2024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589520" y="2926080"/>
            <a:ext cx="9144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1124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589520" y="2926080"/>
            <a:ext cx="914400" cy="45720"/>
          </a:xfrm>
          <a:prstGeom prst="rect">
            <a:avLst/>
          </a:prstGeom>
          <a:solidFill>
            <a:srgbClr val="D11242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0" y="3063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5K→2K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589520" y="3520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HEADCOUNT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595360" y="2926080"/>
            <a:ext cx="9144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1124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95360" y="2926080"/>
            <a:ext cx="914400" cy="45720"/>
          </a:xfrm>
          <a:prstGeom prst="rect">
            <a:avLst/>
          </a:prstGeom>
          <a:solidFill>
            <a:srgbClr val="D11242"/>
          </a:solidFill>
          <a:ln/>
        </p:spPr>
      </p:sp>
      <p:sp>
        <p:nvSpPr>
          <p:cNvPr id="19" name="Text 17"/>
          <p:cNvSpPr/>
          <p:nvPr/>
        </p:nvSpPr>
        <p:spPr>
          <a:xfrm>
            <a:off x="8595360" y="3063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+73%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95360" y="3520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 / EMPLOYEE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601200" y="2926080"/>
            <a:ext cx="9144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1124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01200" y="2926080"/>
            <a:ext cx="914400" cy="45720"/>
          </a:xfrm>
          <a:prstGeom prst="rect">
            <a:avLst/>
          </a:prstGeom>
          <a:solidFill>
            <a:srgbClr val="D11242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0" y="3063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0" y="3520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0607040" y="2926080"/>
            <a:ext cx="9144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1124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607040" y="2926080"/>
            <a:ext cx="914400" cy="45720"/>
          </a:xfrm>
          <a:prstGeom prst="rect">
            <a:avLst/>
          </a:prstGeom>
          <a:solidFill>
            <a:srgbClr val="D11242"/>
          </a:solidFill>
          <a:ln/>
        </p:spPr>
      </p:sp>
      <p:sp>
        <p:nvSpPr>
          <p:cNvPr id="27" name="Text 25"/>
          <p:cNvSpPr/>
          <p:nvPr/>
        </p:nvSpPr>
        <p:spPr>
          <a:xfrm>
            <a:off x="10607040" y="3063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$87B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607040" y="3520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14400" y="45720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CORROBORATING EVIDENCE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14400" y="48920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05840" y="49377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Shopify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5840" y="51663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AI-First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05840" y="54406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Mandate: prove AI can't do it before hiring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0" y="48920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834640" y="49377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834640" y="51663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2834640" y="54406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new code written by AI, humans review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0" y="48920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663440" y="49377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63440" y="51663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$3.3M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4663440" y="54406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per employee with ~60 people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00800" y="48920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492240" y="49377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Duolingo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92240" y="51663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AI+Review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492240" y="54406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Replaced contractor workforce with AI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229600" y="48920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321040" y="49377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Data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321040" y="51663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55%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8321040" y="54406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task completion across 77K orgs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0058400" y="48920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10149840" y="49377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Mercado Libre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149840" y="51663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40%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0149840" y="54406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dev cycles with AI-native workflows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178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Office of the Chief AI Officer  |  Technology Transformation Strategy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1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LESSONS FOR OUR BANK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731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6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Evidence Tells 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50292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371600"/>
            <a:ext cx="54864" cy="1325880"/>
          </a:xfrm>
          <a:prstGeom prst="rect">
            <a:avLst/>
          </a:prstGeom>
          <a:solidFill>
            <a:srgbClr val="003B7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Attrition, Not Layoffs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7830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Klarna achieved 60% reduction through a hiring freeze and natural attrition — not mass layoffs. Our 12-week plan follows the same principle.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0292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371600"/>
            <a:ext cx="54864" cy="1325880"/>
          </a:xfrm>
          <a:prstGeom prst="rect">
            <a:avLst/>
          </a:prstGeom>
          <a:solidFill>
            <a:srgbClr val="003B70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Commercial AI Platforms Win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17830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 built their own models. They all adopted commercial AI (OpenAI, Copilot, Claude) and wired it in. Our bank.md + Claude Code approach follows proven practice.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2926080"/>
            <a:ext cx="50292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2926080"/>
            <a:ext cx="54864" cy="1325880"/>
          </a:xfrm>
          <a:prstGeom prst="rect">
            <a:avLst/>
          </a:prstGeom>
          <a:solidFill>
            <a:srgbClr val="003B7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017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The Market Rewards 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3375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Klarna's $87B IPO proves investors see AI-native ops as structural advantage. For us: improved cost-to-income, higher ROE, re-rating opportunity.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926080"/>
            <a:ext cx="50292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926080"/>
            <a:ext cx="54864" cy="1325880"/>
          </a:xfrm>
          <a:prstGeom prst="rect">
            <a:avLst/>
          </a:prstGeom>
          <a:solidFill>
            <a:srgbClr val="003B70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017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Start with Execution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33375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company started by replacing execution work while keeping strategic judgement human. Our model: 5 humans provide judgement, Claude handles execution.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4480560"/>
            <a:ext cx="50292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4480560"/>
            <a:ext cx="54864" cy="1325880"/>
          </a:xfrm>
          <a:prstGeom prst="rect">
            <a:avLst/>
          </a:prstGeom>
          <a:solidFill>
            <a:srgbClr val="003B70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Banking Has More to Gain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48920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 5,000-person fintech gains 73% efficiency, a bank with 10x the process overhead, compliance burden, and coordination cost gains disproportionately more.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4480560"/>
            <a:ext cx="50292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4480560"/>
            <a:ext cx="54864" cy="1325880"/>
          </a:xfrm>
          <a:prstGeom prst="rect">
            <a:avLst/>
          </a:prstGeom>
          <a:solidFill>
            <a:srgbClr val="003B70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6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The Window Is Closing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6520" y="48920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competitor is reading the same data. The first-mover advantage in banking AI-native operations will be claimed within 12 months. We must move now.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0" y="6035040"/>
            <a:ext cx="10360152" cy="502920"/>
          </a:xfrm>
          <a:prstGeom prst="roundRect">
            <a:avLst>
              <a:gd name="adj" fmla="val 18182"/>
            </a:avLst>
          </a:prstGeom>
          <a:solidFill>
            <a:srgbClr val="0F1632"/>
          </a:solidFill>
          <a:ln/>
        </p:spPr>
      </p:sp>
      <p:sp>
        <p:nvSpPr>
          <p:cNvPr id="29" name="Text 27"/>
          <p:cNvSpPr/>
          <p:nvPr/>
        </p:nvSpPr>
        <p:spPr>
          <a:xfrm>
            <a:off x="1188720" y="6035040"/>
            <a:ext cx="9811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Klarna: 60% fewer people, 73% more revenue, $87B IPO  •  Bolt: 95% AI code  •  Cursor: $3.3M/employee  •  The model is validated.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178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Office of the Chief AI Officer  |  Technology Transformation Strategy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457200"/>
            <a:ext cx="9144000" cy="9144000"/>
          </a:xfrm>
          <a:prstGeom prst="ellipse">
            <a:avLst/>
          </a:prstGeom>
          <a:solidFill>
            <a:srgbClr val="003B7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371600"/>
            <a:ext cx="9445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B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71600" y="2011680"/>
            <a:ext cx="94457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have two thousand people</a:t>
            </a:r>
            <a:endParaRPr lang="en-US" sz="3600" dirty="0"/>
          </a:p>
          <a:p>
            <a:pPr algn="ctr"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doing the work of five.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28800" y="3566160"/>
            <a:ext cx="85313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7AB3E0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am requesting board approval to initiate a 12-week proof-of-concept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7AB3E0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a dedicated team of five, beginning immediately.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7AB3E0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projected first-year savings alone will fund the transformation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7AB3E0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 times over. The question is no longer if this is possible.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7AB3E0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is how quickly we move.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5486400"/>
            <a:ext cx="9445752" cy="9144"/>
          </a:xfrm>
          <a:prstGeom prst="rect">
            <a:avLst/>
          </a:prstGeom>
          <a:solidFill>
            <a:srgbClr val="7AB3E0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56692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5852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Chief AI Officer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56692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0" y="5852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Chief Executive Officer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0" y="56692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5852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March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Office of the Chief AI Officer  |  Technology Transformation Strategy  |  March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Office of the Chief AI Officer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Five-Person Bank</dc:title>
  <dc:subject>Technology Transformation Strategy</dc:subject>
  <dc:creator>Chief AI Officer</dc:creator>
  <cp:lastModifiedBy>Chief AI Officer</cp:lastModifiedBy>
  <cp:revision>1</cp:revision>
  <dcterms:created xsi:type="dcterms:W3CDTF">2026-03-29T01:05:59Z</dcterms:created>
  <dcterms:modified xsi:type="dcterms:W3CDTF">2026-03-29T01:05:59Z</dcterms:modified>
</cp:coreProperties>
</file>